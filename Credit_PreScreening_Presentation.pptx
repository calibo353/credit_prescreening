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ff4b7e5-d179-8dea-8317-ab8c9f10199f}">
          <p14:sldIdLst>
            <p14:sldId id="256"/>
          </p14:sldIdLst>
        </p14:section>
        <p14:section name="Problem and data" id="{6141efd1-3d90-9864-6198-e10bb1a849fb}">
          <p14:sldIdLst>
            <p14:sldId id="257"/>
            <p14:sldId id="258"/>
          </p14:sldIdLst>
        </p14:section>
        <p14:section name="What drives decisions" id="{5a7c0959-a25b-5cd8-27b8-db8b3c6b66c1}">
          <p14:sldIdLst>
            <p14:sldId id="259"/>
            <p14:sldId id="260"/>
          </p14:sldIdLst>
        </p14:section>
        <p14:section name="Model and threshold" id="{ce32b06f-2a2f-06cf-af97-860f142cada1}">
          <p14:sldIdLst>
            <p14:sldId id="261"/>
            <p14:sldId id="262"/>
            <p14:sldId id="263"/>
          </p14:sldIdLst>
        </p14:section>
        <p14:section name="Impact and fairness" id="{db9328fe-3d6c-71b9-437a-c3a38a84f1e6}">
          <p14:sldIdLst>
            <p14:sldId id="264"/>
            <p14:sldId id="265"/>
          </p14:sldIdLst>
        </p14:section>
        <p14:section name="Recommendation" id="{1ea6dcb1-c6af-ae5a-9ae4-1bcea96f6bf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Approval rate by credit score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 (%)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&lt;600</c:v>
                  </c:pt>
                  <c:pt idx="1">
                    <c:v>600-649</c:v>
                  </c:pt>
                  <c:pt idx="2">
                    <c:v>650-699</c:v>
                  </c:pt>
                  <c:pt idx="3">
                    <c:v>700-749</c:v>
                  </c:pt>
                  <c:pt idx="4">
                    <c:v>750-799</c:v>
                  </c:pt>
                  <c:pt idx="5">
                    <c:v>800+</c:v>
                  </c:pt>
                  <c:pt idx="6">
                    <c:v>No score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2.03</c:v>
                </c:pt>
                <c:pt idx="1">
                  <c:v>3.22</c:v>
                </c:pt>
                <c:pt idx="2">
                  <c:v>32.5</c:v>
                </c:pt>
                <c:pt idx="3">
                  <c:v>54.37</c:v>
                </c:pt>
                <c:pt idx="4">
                  <c:v>77.2</c:v>
                </c:pt>
                <c:pt idx="5">
                  <c:v>85.19</c:v>
                </c:pt>
                <c:pt idx="6">
                  <c:v>53.9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Approval rate by FOIR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 (%)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Below 30%</c:v>
                  </c:pt>
                  <c:pt idx="1">
                    <c:v>30-40%</c:v>
                  </c:pt>
                  <c:pt idx="2">
                    <c:v>40-50%</c:v>
                  </c:pt>
                  <c:pt idx="3">
                    <c:v>50-55%</c:v>
                  </c:pt>
                  <c:pt idx="4">
                    <c:v>Above 55%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65.47</c:v>
                </c:pt>
                <c:pt idx="1">
                  <c:v>58.99</c:v>
                </c:pt>
                <c:pt idx="2">
                  <c:v>47.85</c:v>
                </c:pt>
                <c:pt idx="3">
                  <c:v>32.39</c:v>
                </c:pt>
                <c:pt idx="4">
                  <c:v>15.63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Top 5 coefficients (scaled): positive pushes towards decline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31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Credit score</c:v>
                  </c:pt>
                  <c:pt idx="1">
                    <c:v>Salaried</c:v>
                  </c:pt>
                  <c:pt idx="2">
                    <c:v>Gig / Contract</c:v>
                  </c:pt>
                  <c:pt idx="3">
                    <c:v>Delinquencies (24m)</c:v>
                  </c:pt>
                  <c:pt idx="4">
                    <c:v>FOIR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-1.01</c:v>
                </c:pt>
                <c:pt idx="1">
                  <c:v>-0.44</c:v>
                </c:pt>
                <c:pt idx="2">
                  <c:v>0.62</c:v>
                </c:pt>
                <c:pt idx="3">
                  <c:v>0.98</c:v>
                </c:pt>
                <c:pt idx="4">
                  <c:v>1.22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-1.5"/>
        </c:scaling>
        <c:delete val="0"/>
        <c:axPos val="b"/>
        <c:majorGridlines>
          <c:spPr>
            <a:ln w="9525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Threshold trade-off (test set)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auto-declined</c:v>
                </c:pt>
              </c:strCache>
            </c:strRef>
          </c:tx>
          <c:spPr>
            <a:solidFill>
              <a:srgbClr val="13315C"/>
            </a:solidFill>
            <a:ln w="25400" cap="flat">
              <a:solidFill>
                <a:srgbClr val="13315C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3315C"/>
              </a:solidFill>
              <a:ln w="9525" cap="flat">
                <a:solidFill>
                  <a:srgbClr val="1331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0.60</c:v>
                  </c:pt>
                  <c:pt idx="2">
                    <c:v>0.70</c:v>
                  </c:pt>
                  <c:pt idx="3">
                    <c:v>0.80</c:v>
                  </c:pt>
                  <c:pt idx="4">
                    <c:v>0.85</c:v>
                  </c:pt>
                  <c:pt idx="5">
                    <c:v>0.90</c:v>
                  </c:pt>
                  <c:pt idx="6">
                    <c:v>0.95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44.88</c:v>
                </c:pt>
                <c:pt idx="1">
                  <c:v>37.62</c:v>
                </c:pt>
                <c:pt idx="2">
                  <c:v>30.75</c:v>
                </c:pt>
                <c:pt idx="3">
                  <c:v>23.46</c:v>
                </c:pt>
                <c:pt idx="4">
                  <c:v>19.67</c:v>
                </c:pt>
                <c:pt idx="5">
                  <c:v>15.21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auto-declines the credit team approved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0.60</c:v>
                  </c:pt>
                  <c:pt idx="2">
                    <c:v>0.70</c:v>
                  </c:pt>
                  <c:pt idx="3">
                    <c:v>0.80</c:v>
                  </c:pt>
                  <c:pt idx="4">
                    <c:v>0.85</c:v>
                  </c:pt>
                  <c:pt idx="5">
                    <c:v>0.90</c:v>
                  </c:pt>
                  <c:pt idx="6">
                    <c:v>0.95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20.89</c:v>
                </c:pt>
                <c:pt idx="1">
                  <c:v>16.83</c:v>
                </c:pt>
                <c:pt idx="2">
                  <c:v>12.06</c:v>
                </c:pt>
                <c:pt idx="3">
                  <c:v>7.1</c:v>
                </c:pt>
                <c:pt idx="4">
                  <c:v>5.93</c:v>
                </c:pt>
                <c:pt idx="5">
                  <c:v>4.66</c:v>
                </c:pt>
                <c:pt idx="6">
                  <c:v>2.08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5% risk limit</c:v>
                </c:pt>
              </c:strCache>
            </c:strRef>
          </c:tx>
          <c:spPr>
            <a:solidFill>
              <a:srgbClr val="5C6B8A"/>
            </a:solidFill>
            <a:ln w="25400" cap="flat">
              <a:solidFill>
                <a:srgbClr val="5C6B8A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C6B8A"/>
              </a:solidFill>
              <a:ln w="9525" cap="flat">
                <a:solidFill>
                  <a:srgbClr val="5C6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0.60</c:v>
                  </c:pt>
                  <c:pt idx="2">
                    <c:v>0.70</c:v>
                  </c:pt>
                  <c:pt idx="3">
                    <c:v>0.80</c:v>
                  </c:pt>
                  <c:pt idx="4">
                    <c:v>0.85</c:v>
                  </c:pt>
                  <c:pt idx="5">
                    <c:v>0.90</c:v>
                  </c:pt>
                  <c:pt idx="6">
                    <c:v>0.95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B25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Historical approval rate by gender and job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Business Owner</c:v>
                  </c:pt>
                  <c:pt idx="1">
                    <c:v>Gig / Contract</c:v>
                  </c:pt>
                  <c:pt idx="2">
                    <c:v>Salaried</c:v>
                  </c:pt>
                  <c:pt idx="3">
                    <c:v>Self-Employed Prof.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51.6</c:v>
                </c:pt>
                <c:pt idx="1">
                  <c:v>34.6</c:v>
                </c:pt>
                <c:pt idx="2">
                  <c:v>56.8</c:v>
                </c:pt>
                <c:pt idx="3">
                  <c:v>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Business Owner</c:v>
                  </c:pt>
                  <c:pt idx="1">
                    <c:v>Gig / Contract</c:v>
                  </c:pt>
                  <c:pt idx="2">
                    <c:v>Salaried</c:v>
                  </c:pt>
                  <c:pt idx="3">
                    <c:v>Self-Employed Prof.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51.1</c:v>
                </c:pt>
                <c:pt idx="1">
                  <c:v>35.2</c:v>
                </c:pt>
                <c:pt idx="2">
                  <c:v>59.1</c:v>
                </c:pt>
                <c:pt idx="3">
                  <c:v>52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B25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business question: can a model remove clear-cut declines from the manual queue without wrongly declining good customers?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CBIM canvas: Situation, Complication, Question, SSOT. Stress that decision = past analyst judgement, so the model copies past decisions including any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cleaning decision is written in the notebook cleaning log with its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Gig / Contract workers are approved least (34.9% vs 58.4% Salaried) and have about half the job tenure (1.6 vs 3.3 years).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biggest drops come after 50% (-15 points) and 55% (-17 points). FOIR is a feature the team built and it is the strongest model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 not the headline. 225 of the 1,271 applications the bank approved (17.7%) would be wrongly declined at the default cut-off.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= Declined (target = 1). Features were scaled so sizes are comparable. No gender, city, decision or ids were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applied on unrounded values: pick the threshold that auto-declines the most applications while wrong declines &lt;= 5%. A finer grid (0.86-0.89 give 5.4-5.6%) confirms 0.90.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3,000 x 15.2% = about 456 applications; 456 x 25 / 60 = about 190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4.4-point gap remains for Self-Employed Professionals and should be monitored. At 0.5 the model's gap (4.4 points) roughly matches the historical decline gap (3.9 points).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points: threshold, two drivers with numbers, the group to keep with humans, and the fairness position plus the extra data wanted.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Credit Pre-Screening Engine  |  MUC02  |  Calibo AI Academy, Path 2 KLU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Credit Pre-Screening Engine  |  MUC02  |  Calibo AI Academy, Path 2 KLU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MINI USE CASE 02  |  BFSI RETAIL LENDING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Pre-Screening Engine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Which loan applications can safely skip manual review?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Lohitha  |  Ashika  |  Suresh  |  Akhilandra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2: Supervised Learning Part 1  |  Calibo AI Academy, Path 2 KLU Batch</a:t>
            </a:r>
            <a:endParaRPr lang="en-US" sz="120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application is reviewed by hand</a:t>
            </a:r>
            <a:endParaRPr lang="en-US" sz="2600" dirty="0"/>
          </a:p>
        </p:txBody>
      </p:sp>
      <p:sp>
        <p:nvSpPr>
          <p:cNvPr id="3" name="stat0"/>
          <p:cNvSpPr/>
          <p:nvPr/>
        </p:nvSpPr>
        <p:spPr>
          <a:xfrm>
            <a:off x="457200" y="1188720"/>
            <a:ext cx="26060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applications a month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3246120" y="1188720"/>
            <a:ext cx="26060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review each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6035040" y="1188720"/>
            <a:ext cx="26060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 up declined</a:t>
            </a:r>
            <a:endParaRPr lang="en-US" sz="1400" dirty="0"/>
          </a:p>
        </p:txBody>
      </p:sp>
      <p:sp>
        <p:nvSpPr>
          <p:cNvPr id="12" name="question"/>
          <p:cNvSpPr/>
          <p:nvPr/>
        </p:nvSpPr>
        <p:spPr>
          <a:xfrm>
            <a:off x="457200" y="2697480"/>
            <a:ext cx="8229600" cy="960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788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question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Which applications can be auto-declined, with no more than 5% of those being ones the credit team would have approved?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Source of truth: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12,000 applications, Apr to Sep 2026. The decision column is past analyst judgement, not whether customers repaid.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issues, each with a recorded decision</a:t>
            </a:r>
            <a:endParaRPr lang="en-US" sz="2600" dirty="0"/>
          </a:p>
        </p:txBody>
      </p:sp>
      <p:sp>
        <p:nvSpPr>
          <p:cNvPr id="3" name="clean0"/>
          <p:cNvSpPr/>
          <p:nvPr/>
        </p:nvSpPr>
        <p:spPr>
          <a:xfrm>
            <a:off x="457200" y="1188720"/>
            <a:ext cx="260604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incomes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Concentrated in Business Owners (13.0%) and Self-Employed (10.8%)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Decision: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Filled with the median income of the same employment type</a:t>
            </a:r>
            <a:endParaRPr lang="en-US" sz="1400" dirty="0"/>
          </a:p>
        </p:txBody>
      </p:sp>
      <p:sp>
        <p:nvSpPr>
          <p:cNvPr id="8" name="clean1"/>
          <p:cNvSpPr/>
          <p:nvPr/>
        </p:nvSpPr>
        <p:spPr>
          <a:xfrm>
            <a:off x="3246120" y="1188720"/>
            <a:ext cx="260604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1,039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Blank credit scores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Not errors: all have 0 months of credit history (new to credit)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Decision: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Kept and flagged with is_ntc, never dropped</a:t>
            </a:r>
            <a:endParaRPr lang="en-US" sz="1400" dirty="0"/>
          </a:p>
        </p:txBody>
      </p:sp>
      <p:sp>
        <p:nvSpPr>
          <p:cNvPr id="13" name="clean2"/>
          <p:cNvSpPr/>
          <p:nvPr/>
        </p:nvSpPr>
        <p:spPr>
          <a:xfrm>
            <a:off x="6035040" y="1188720"/>
            <a:ext cx="2606040" cy="3017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280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Incomes over ₹6 lakh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 Salaried; annual income typed as monthly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Decision: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Divided by 12 so FOIR is not distorted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rows were dropped: all 12,000 applications remain, including 8.7% new-to-credit applicants.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a 650 score, approvals almost vanish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6309360" y="1188720"/>
            <a:ext cx="23774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9224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 unwritten score floor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3.0% approved below 650 vs 58.9% at 650 and above. A pre-screener can apply this rule safely.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 score: 53.9% approved, so analysts use judgement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EMIs pass half of income, approvals collapse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olicy"/>
          <p:cNvSpPr/>
          <p:nvPr/>
        </p:nvSpPr>
        <p:spPr>
          <a:xfrm>
            <a:off x="6309360" y="1188720"/>
            <a:ext cx="23774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9224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Proposed policy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6916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FOIR ceiling: 50%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50-55% only as an analyst-approved exception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Above 55%: decline unless strong offsets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FOIR = (existing + proposed EMI) / monthly income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 good customers wrongly declined at 0.5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Confusion matrix on 2,400 test applications</a:t>
            </a:r>
            <a:endParaRPr lang="en-US" sz="1200" dirty="0"/>
          </a:p>
        </p:txBody>
      </p:sp>
      <p:sp>
        <p:nvSpPr>
          <p:cNvPr id="4" name="cm0"/>
          <p:cNvSpPr/>
          <p:nvPr/>
        </p:nvSpPr>
        <p:spPr>
          <a:xfrm>
            <a:off x="457200" y="1463040"/>
            <a:ext cx="2240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Correctly approved</a:t>
            </a:r>
            <a:endParaRPr lang="en-US" sz="1400" dirty="0"/>
          </a:p>
        </p:txBody>
      </p:sp>
      <p:sp>
        <p:nvSpPr>
          <p:cNvPr id="7" name="cm1"/>
          <p:cNvSpPr/>
          <p:nvPr/>
        </p:nvSpPr>
        <p:spPr>
          <a:xfrm>
            <a:off x="2834640" y="1463040"/>
            <a:ext cx="2240280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Good customers wrongly declined</a:t>
            </a:r>
            <a:endParaRPr lang="en-US" sz="1400" dirty="0"/>
          </a:p>
        </p:txBody>
      </p:sp>
      <p:sp>
        <p:nvSpPr>
          <p:cNvPr id="10" name="cm2"/>
          <p:cNvSpPr/>
          <p:nvPr/>
        </p:nvSpPr>
        <p:spPr>
          <a:xfrm>
            <a:off x="457200" y="3017520"/>
            <a:ext cx="2240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94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Declines missed (go to analyst)</a:t>
            </a:r>
            <a:endParaRPr lang="en-US" sz="1400" dirty="0"/>
          </a:p>
        </p:txBody>
      </p:sp>
      <p:sp>
        <p:nvSpPr>
          <p:cNvPr id="13" name="cm3"/>
          <p:cNvSpPr/>
          <p:nvPr/>
        </p:nvSpPr>
        <p:spPr>
          <a:xfrm>
            <a:off x="2834640" y="3017520"/>
            <a:ext cx="2240280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794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Correctly declined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79.1%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Accuracy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0.867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ROC-AUC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8895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79.1% / 75.5%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Precision / recall (Declined)</a:t>
            </a:r>
            <a:endParaRPr lang="en-US" sz="1200" dirty="0"/>
          </a:p>
        </p:txBody>
      </p:sp>
      <p:sp>
        <p:nvSpPr>
          <p:cNvPr id="22" name="ntcwarn"/>
          <p:cNvSpPr/>
          <p:nvPr/>
        </p:nvSpPr>
        <p:spPr>
          <a:xfrm>
            <a:off x="5486400" y="3611880"/>
            <a:ext cx="3200400" cy="8686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2356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New-to-credit: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only 56.7% accurate (scored: 81.2%)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learned the bank's credit policy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ad"/>
          <p:cNvSpPr/>
          <p:nvPr/>
        </p:nvSpPr>
        <p:spPr>
          <a:xfrm>
            <a:off x="6126480" y="1188720"/>
            <a:ext cx="25603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Reading it like an analyst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Higher FOIR pushes towards decline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extra missed payment pushes towards decline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Gig work pushes towards decline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higher score or a salaried job pulls towards approval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 is the lowest threshold within the limit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88720"/>
          <a:ext cx="2880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9728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Auto-declined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06440" y="3840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At the default 0.50, one in five auto-declines would be a good customer. At 0.85 the wrong rate is 5.9%, above the limit.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0.90 threshold is worth every month</a:t>
            </a:r>
            <a:endParaRPr lang="en-US" sz="2600" dirty="0"/>
          </a:p>
        </p:txBody>
      </p:sp>
      <p:sp>
        <p:nvSpPr>
          <p:cNvPr id="3" name="biz0"/>
          <p:cNvSpPr/>
          <p:nvPr/>
        </p:nvSpPr>
        <p:spPr>
          <a:xfrm>
            <a:off x="457200" y="118872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applications auto-declined</a:t>
            </a:r>
            <a:endParaRPr lang="en-US" sz="1400" dirty="0"/>
          </a:p>
        </p:txBody>
      </p:sp>
      <p:sp>
        <p:nvSpPr>
          <p:cNvPr id="6" name="biz1"/>
          <p:cNvSpPr/>
          <p:nvPr/>
        </p:nvSpPr>
        <p:spPr>
          <a:xfrm>
            <a:off x="4663440" y="118872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applications a month, out of 3,000</a:t>
            </a:r>
            <a:endParaRPr lang="en-US" sz="1400" dirty="0"/>
          </a:p>
        </p:txBody>
      </p:sp>
      <p:sp>
        <p:nvSpPr>
          <p:cNvPr id="9" name="biz2"/>
          <p:cNvSpPr/>
          <p:nvPr/>
        </p:nvSpPr>
        <p:spPr>
          <a:xfrm>
            <a:off x="457200" y="260604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~190 hrs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analyst time freed (25 min each)</a:t>
            </a:r>
            <a:endParaRPr lang="en-US" sz="1400" dirty="0"/>
          </a:p>
        </p:txBody>
      </p:sp>
      <p:sp>
        <p:nvSpPr>
          <p:cNvPr id="12" name="biz3"/>
          <p:cNvSpPr/>
          <p:nvPr/>
        </p:nvSpPr>
        <p:spPr>
          <a:xfrm>
            <a:off x="4663440" y="260604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auto-declines were good customers (~21 a month)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Modest but safe: the lane catches 30.8% of all declines. The estimate rests on 365 test auto-declines, so re-check it on a fresh month of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gender gap is mostly income and job mix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ir"/>
          <p:cNvSpPr/>
          <p:nvPr/>
        </p:nvSpPr>
        <p:spPr>
          <a:xfrm>
            <a:off x="6126480" y="1188720"/>
            <a:ext cx="25603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325880"/>
            <a:ext cx="2194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Overall: 50.4% female vs 54.1% male approved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income ₹45k vs ₹55k; gig share 21% vs 12%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auto-decline rate at 0.90: 15.6% vs 15.0%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Leaving gender out is necessary, not sufficient: monitor monthly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Policy Briefing</a:t>
            </a:r>
            <a:endParaRPr lang="en-US" sz="3000" dirty="0"/>
          </a:p>
        </p:txBody>
      </p:sp>
      <p:sp>
        <p:nvSpPr>
          <p:cNvPr id="3" name="br0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Threshold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Auto-decline only at 90%+ confidence: about 456 applications and 190 analyst hours a month, with 4.7% wrongly declined.</a:t>
            </a:r>
            <a:endParaRPr lang="en-US" sz="1400" dirty="0"/>
          </a:p>
        </p:txBody>
      </p:sp>
      <p:sp>
        <p:nvSpPr>
          <p:cNvPr id="6" name="br1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Top drivers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FOIR: approvals fall from 65.5% to 15.6%. Credit score: only 3.0% approved below 650.</a:t>
            </a:r>
            <a:endParaRPr lang="en-US" sz="1400" dirty="0"/>
          </a:p>
        </p:txBody>
      </p:sp>
      <p:sp>
        <p:nvSpPr>
          <p:cNvPr id="9" name="br2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Keep with humans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832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New-to-credit applicants: the model is right only 56.7% of the time.</a:t>
            </a:r>
            <a:endParaRPr lang="en-US" sz="1400" dirty="0"/>
          </a:p>
        </p:txBody>
      </p:sp>
      <p:sp>
        <p:nvSpPr>
          <p:cNvPr id="12" name="br3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Before go-live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Monitor outcomes by gender monthly, and add repayment data: today the model copies past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Pre-Screening">
  <a:themeElements>
    <a:clrScheme name="Credit Pre-Screening">
      <a:dk1>
        <a:srgbClr val="0B2545"/>
      </a:dk1>
      <a:lt1>
        <a:srgbClr val="FFFFFF"/>
      </a:lt1>
      <a:dk2>
        <a:srgbClr val="13315C"/>
      </a:dk2>
      <a:lt2>
        <a:srgbClr val="EEF2F7"/>
      </a:lt2>
      <a:accent1>
        <a:srgbClr val="13A89E"/>
      </a:accent1>
      <a:accent2>
        <a:srgbClr val="C8553D"/>
      </a:accent2>
      <a:accent3>
        <a:srgbClr val="F2A541"/>
      </a:accent3>
      <a:accent4>
        <a:srgbClr val="5C6B8A"/>
      </a:accent4>
      <a:accent5>
        <a:srgbClr val="8DA9C4"/>
      </a:accent5>
      <a:accent6>
        <a:srgbClr val="2E7D32"/>
      </a:accent6>
      <a:hlink>
        <a:srgbClr val="13A89E"/>
      </a:hlink>
      <a:folHlink>
        <a:srgbClr val="5C6B8A"/>
      </a:folHlink>
    </a:clrScheme>
    <a:fontScheme name="Credit Pre-Scree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Pre-Screening Engine</dc:title>
  <dc:subject>PptxGenJS Presentation</dc:subject>
  <dc:creator>Lohitha, Ashika, Suresh, Akhilandra</dc:creator>
  <cp:lastModifiedBy>Lohitha, Ashika, Suresh, Akhilandra</cp:lastModifiedBy>
  <cp:revision>1</cp:revision>
  <dcterms:created xsi:type="dcterms:W3CDTF">2026-10-20T11:09:01Z</dcterms:created>
  <dcterms:modified xsi:type="dcterms:W3CDTF">2026-10-20T11:09:01Z</dcterms:modified>
</cp:coreProperties>
</file>